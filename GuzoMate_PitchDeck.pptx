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Score (%)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43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43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74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6AF9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English</c:v>
                  </c:pt>
                  <c:pt idx="1">
                    <c:v>Amharic (አማርኛ)</c:v>
                  </c:pt>
                  <c:pt idx="2">
                    <c:v>Afaan Oromoo</c:v>
                  </c:pt>
                  <c:pt idx="3">
                    <c:v>Code-Switched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43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79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  <c:min val="80"/>
        </c:scaling>
        <c:delete val="0"/>
        <c:axPos val="l"/>
        <c:majorGridlines>
          <c:spPr>
            <a:ln w="6350" cap="flat">
              <a:solidFill>
                <a:srgbClr val="E3E3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79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6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94360"/>
            <a:ext cx="3291840" cy="292608"/>
          </a:xfrm>
          <a:prstGeom prst="roundRect">
            <a:avLst>
              <a:gd name="adj" fmla="val 46875"/>
            </a:avLst>
          </a:prstGeom>
          <a:solidFill>
            <a:srgbClr val="FFFFFF"/>
          </a:solidFill>
          <a:ln w="9525">
            <a:solidFill>
              <a:srgbClr val="C1C8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6126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AWS HACKATHON 2026  //  LIVE PROJECT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1078992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GuzoMate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5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AI ASSISTANT &amp; TRANSIT CO-PILOT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AI-powered travel companion for safer journeys across Ethiopia and beyond.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dense multilingual RAG, real-time spatial intelligence, and 18,833 verified locations.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3337560"/>
            <a:ext cx="76809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01600" dist="25400" dir="8100000">
              <a:srgbClr val="1B4332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34930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SYSTEM MODULES
</a:t>
            </a:r>
            <a:pPr indent="0" marL="0">
              <a:buNone/>
            </a:pPr>
            <a:r>
              <a:rPr lang="en-US" sz="90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Places &amp; Spatial Discovery: PostGIS ST_Distance radius queries
</a:t>
            </a:r>
            <a:pPr indent="0" marL="0">
              <a:buNone/>
            </a:pPr>
            <a:r>
              <a:rPr lang="en-US" sz="90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Multilingual AI Assistant: BAAI/bge-m3 dense embeddings + Gemini LLM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00600" y="3493008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TRILINGUAL GROUNDING &amp; SERVICES
</a:t>
            </a:r>
            <a:pPr indent="0" marL="0">
              <a:buNone/>
            </a:pPr>
            <a:r>
              <a:rPr lang="en-US" sz="90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Supported Languages: English • አማርኛ (Amharic) • Afaan Oromoo
</a:t>
            </a:r>
            <a:pPr indent="0" marL="0">
              <a:buNone/>
            </a:pPr>
            <a:r>
              <a:rPr lang="en-US" sz="90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Integrations: WeatherAPI, GTFS transit routes, crowd incident radar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Navigation &amp; Travel Blindspots in East Africa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standard global mapping applications fall short for everyday commuters and long-distance travelers.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794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01600" dist="25400" dir="8100000">
              <a:srgbClr val="1B4332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60020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// SERVICE DEFICIT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Unmapped Local Services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16712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platforms lack verified local mechanics, tire repair shops (ጎማ ጥገና), roadside towing, and informal minibus depots.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794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01600" dist="25400" dir="8100000">
              <a:srgbClr val="1B4332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60020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// HAZARD UNPREDICTABILITY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Road Hazards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16712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Escarpment rockfalls, flash flooding, and landslides happen without warning; drivers enter blocked corridors completely blind.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3794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01600" dist="25400" dir="8100000">
              <a:srgbClr val="1B4332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38328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// MEDICAL RESPONSE LAG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68680" y="36118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High-Altitude Emergencies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395020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delays finding oxygen-equipped pharmacies, trauma facilities, or emergency towing in remote highland passes.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3200400"/>
            <a:ext cx="3794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01600" dist="25400" dir="8100000">
              <a:srgbClr val="1B4332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338328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// LINGUISTIC EXCLUSION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937760" y="36118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Language &amp; Script Divide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95020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90% of local travelers navigate in Amharic (Ge'ez) or Afaan Oromo, while traditional mapping tools enforce English-only prompts.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GuzoMate: An Intelligent, Multilingual Travel Co-Pilot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resilient architecture combining OpenStreetMap discovery, dense multilingual RAG, and community safety.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441448" cy="329184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01600" dist="25400" dir="8100000">
              <a:srgbClr val="1B4332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00200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GEOSPATIAL FOUNDATION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847088"/>
            <a:ext cx="207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18,833 Verified POIs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207568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OpenStreetMap locations on Supabase PostgreSQL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 ST_Distance high-speed geodesic radius calculations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Deduplicated within 35m spatial radius for data fidelity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search radius: 3km local → 8km → 18km city-wide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55848" y="1417320"/>
            <a:ext cx="2441448" cy="329184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01600" dist="25400" dir="8100000">
              <a:srgbClr val="1B4332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38728" y="1600200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AI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538728" y="1847088"/>
            <a:ext cx="207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Grounded RAG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38728" y="2286000"/>
            <a:ext cx="207568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BAAI/bge-m3 1,024-dim multilingual dense embeddings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English, Amharic (አማርኛ), and Afaan Oromoo support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3.5 Flash Lite grounded in strictly delimited evidence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fabrication constraint with explicit limitation disclosures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71616" y="1417320"/>
            <a:ext cx="2441448" cy="329184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01600" dist="25400" dir="8100000">
              <a:srgbClr val="1B4332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54496" y="1600200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&amp; TRANSIT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54496" y="1847088"/>
            <a:ext cx="207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Incident Radar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54496" y="2286000"/>
            <a:ext cx="207568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Geotagged reporting with 500m / 2hr anti-spam duplicate detection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3-vote corroboration triggers automatic PENDING → ACTIVE state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lifecycle expiry (2h traffic to 72h road damage)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arrival advice matching rain probability to arrival ETA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CAPABILITIES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Pillars of Journey Intelligence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functional components powering real-time travel decisions.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78638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01600" dist="25400" dir="8100000">
              <a:srgbClr val="1B4332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61848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4F4EF"/>
          </a:solidFill>
          <a:ln w="12700">
            <a:solidFill>
              <a:srgbClr val="E3E3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373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45920" y="15819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Travel Assistant &amp; Voice Guidance
</a:t>
            </a:r>
            <a:pPr indent="0" marL="0">
              <a:buNone/>
            </a:pPr>
            <a:r>
              <a:rPr lang="en-US" sz="950" dirty="0">
                <a:solidFill>
                  <a:srgbClr val="717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conversational guidance in English, Amharic (አማርኛ), and Afaan Oromoo.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92040" y="15544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retrieval queries PostGIS points, weather forecasts, and route corridors simultaneously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transcription (Web Speech API) &amp; speech synthesis for hands-free driver safety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Sense-of-urgency detection delivers immediate, direct advice during roadside emergencies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2633472"/>
            <a:ext cx="78638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01600" dist="25400" dir="8100000">
              <a:srgbClr val="1B4332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28346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4F4EF"/>
          </a:solidFill>
          <a:ln w="12700">
            <a:solidFill>
              <a:srgbClr val="E3E3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9535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45920" y="279806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Services Discovery (18,833 POIs)
</a:t>
            </a:r>
            <a:pPr indent="0" marL="0">
              <a:buNone/>
            </a:pPr>
            <a:r>
              <a:rPr lang="en-US" sz="950" dirty="0">
                <a:solidFill>
                  <a:srgbClr val="717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Sub-50ms PostGIS spatial search across 8 verified travel categories.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92040" y="277063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automotive garages, tire repair, and roadside towing facilities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emergency clinics, trauma centers, and oxygen-equipped pharmacies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Hotels, cultural coffee hubs, gas stations, and intercity bus terminals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3849624"/>
            <a:ext cx="78638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01600" dist="25400" dir="8100000">
              <a:srgbClr val="1B4332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050792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4F4EF"/>
          </a:solidFill>
          <a:ln w="12700">
            <a:solidFill>
              <a:srgbClr val="E3E3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1696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45920" y="401421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Condition &amp; Incident Radar
</a:t>
            </a:r>
            <a:pPr indent="0" marL="0">
              <a:buNone/>
            </a:pPr>
            <a:r>
              <a:rPr lang="en-US" sz="950" dirty="0">
                <a:solidFill>
                  <a:srgbClr val="717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Crowdsourced road safety telemetry backed by democratic peer consensus.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92040" y="3986784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road hazards: accidents, roadblocks, flooding, landslides, and heavy traffic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Anti-spam duplicate rejection within 500 meters and 2 hours of existing reports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arrival advice engine recommending umbrella or warm layers based on destination ETA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WORKFLOW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Resolving a Roadside Breakdown in Under 90 Seconds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trace of GuzoMate's real-time spatial retrieval and community safety pipeline.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8288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01600" dist="25400" dir="8100000">
              <a:srgbClr val="1B4332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002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VOICE QUERY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184708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4F4E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883664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Traveler in Distress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"የመኪናዬ ሞተር ተበላሸ፣ በአቅራቢያዬ መካኒክ አለ?"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92608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taps voice button or speaks hands-free in Amharic. The frontend captures audio and extracts coordinates.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51760" y="1417320"/>
            <a:ext cx="18288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01600" dist="25400" dir="8100000">
              <a:srgbClr val="1B4332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88920" y="16002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SPATIAL RAG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88920" y="184708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4F4E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16352" y="1883664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BGE-M3 + PostGIS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788920" y="22402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ST_DWithin($1, $2, 5000)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88920" y="292608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1,024-dim embedding model classifies repair intent. PostGIS executes geodesic radius query on addis_geo_points.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417320"/>
            <a:ext cx="18288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01600" dist="25400" dir="8100000">
              <a:srgbClr val="1B4332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16002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RECOMMENDATION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800600" y="184708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4F4E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1883664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Place Card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00600" y="22402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Place Output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292608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nearest verified automotive workshop, direct phone contact, verified services, and OSRM driving directions.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675120" y="1417320"/>
            <a:ext cx="18288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01600" dist="25400" dir="8100000">
              <a:srgbClr val="1B4332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12280" y="16002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SAFETY ALERT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812280" y="184708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4F4E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9712" y="1883664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Incident Log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812280" y="22402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Geotagged Hazard Alert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12280" y="292608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 logs the stranded vehicle. Approaching drivers receive real-time HUD alerts warning them of the obstruction.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ML ARCHITECTURE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Multilingual Embeddings with Zero Hallucination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parity across Latin, Ethiopic (Ge'ez), and Qubee orthographies.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7947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01600" dist="25400" dir="8100000">
              <a:srgbClr val="1B4332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60020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SPECIFICATIONS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68680" y="184708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Fact Retrieval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BAAI/bge-m3 Model: </a:t>
            </a:r>
            <a:pPr indent="0" marL="0">
              <a:buNone/>
            </a:pPr>
            <a:r>
              <a:rPr lang="en-US" sz="90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1,024-dimensional embeddings capturing semantic parity across English, Amharic, and Afaan Oromo.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Supabase pgvector Index: </a:t>
            </a:r>
            <a:pPr indent="0" marL="0">
              <a:buNone/>
            </a:pPr>
            <a:r>
              <a:rPr lang="en-US" sz="90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search (&lt;=&gt;) indexed directly in PostgreSQL alongside spatial PostGIS coordinates.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68680" y="34290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Strict Evidence Guardrails: </a:t>
            </a:r>
            <a:pPr indent="0" marL="0">
              <a:buNone/>
            </a:pPr>
            <a:r>
              <a:rPr lang="en-US" sz="90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restricted to &lt;EVIDENCE&gt; tags. System is strictly instructed to disclose missing data rather than invent it.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" y="40233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Multi-Tier Query Planner: </a:t>
            </a:r>
            <a:pPr indent="0" marL="0">
              <a:buNone/>
            </a:pPr>
            <a:r>
              <a:rPr lang="en-US" sz="90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language, intent flags (PLACES, WEATHER, ROUTING, INCIDENTS), and dynamic search radius in meters.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417320"/>
            <a:ext cx="37947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01600" dist="25400" dir="8100000">
              <a:srgbClr val="1B4332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60020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VERIFICATION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937760" y="184708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Classification Benchmark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892040" y="2240280"/>
          <a:ext cx="3429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GEOSPATIAL FOUNDATION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18,833 Verified Locations Across Addis Ababa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from OpenStreetMap, deduplicated within 35m spatial radius, and hosted on Supabase PostGIS.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794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01600" dist="25400" dir="8100000">
              <a:srgbClr val="1B4332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554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1,730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194560" y="16184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Cafes &amp; Coffee Hubs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Ethiopian coffee hubs, roasteries, and tea houses along major corridors.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794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01600" dist="25400" dir="8100000">
              <a:srgbClr val="1B4332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554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1,459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263640" y="16184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 &amp; Cash ATMs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205740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Bank of Ethiopia, private bank branches, cash points, and currency exchanges.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2971800"/>
            <a:ext cx="3794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01600" dist="25400" dir="8100000">
              <a:srgbClr val="1B4332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1,259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194560" y="31729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Hotels &amp; Lodging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361188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Hotels, guest houses, and lodges categorized with verified addresses and coordinates.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2971800"/>
            <a:ext cx="3794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01600" dist="25400" dir="8100000">
              <a:srgbClr val="1B4332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421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263640" y="31729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Care &amp; Fuel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61188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315 verified pharmacies and 106 hospitals &amp; health clinics with 111 service stations.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0080" y="4480560"/>
            <a:ext cx="7863840" cy="411480"/>
          </a:xfrm>
          <a:prstGeom prst="roundRect">
            <a:avLst>
              <a:gd name="adj" fmla="val 26667"/>
            </a:avLst>
          </a:prstGeom>
          <a:solidFill>
            <a:srgbClr val="F4F4EF"/>
          </a:solidFill>
          <a:ln w="12700">
            <a:solidFill>
              <a:srgbClr val="E3E3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55371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 OPTIMIZATION: </a:t>
            </a:r>
            <a:pPr indent="0" marL="0">
              <a:buNone/>
            </a:pPr>
            <a:r>
              <a:rPr lang="en-US" sz="90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ST_DWithin spherical index queries • Sub-50ms execution • Progressive radius expansion (3km local → 8km neighborhood → 18km city-wide).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PROTOCOL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Crowdsourced Incidents with Democratic Verification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misinformation with strict duplicate detection and peer consensus.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441448" cy="246888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01600" dist="25400" dir="8100000">
              <a:srgbClr val="1B4332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600200"/>
            <a:ext cx="502920" cy="320040"/>
          </a:xfrm>
          <a:prstGeom prst="roundRect">
            <a:avLst>
              <a:gd name="adj" fmla="val 42857"/>
            </a:avLst>
          </a:prstGeom>
          <a:solidFill>
            <a:srgbClr val="F4F4E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276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207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Geotagged Incident Logging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submit road incidents (Accident, Roadblock, Flooding, Landslide) with GPS coordinates and timestamps.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22960" y="3474720"/>
            <a:ext cx="2075688" cy="256032"/>
          </a:xfrm>
          <a:prstGeom prst="roundRect">
            <a:avLst>
              <a:gd name="adj" fmla="val 53571"/>
            </a:avLst>
          </a:prstGeom>
          <a:solidFill>
            <a:srgbClr val="F4F4E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511296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500m / 2hr Anti-Spam Check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355848" y="1417320"/>
            <a:ext cx="2441448" cy="246888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01600" dist="25400" dir="8100000">
              <a:srgbClr val="1B4332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38728" y="1600200"/>
            <a:ext cx="502920" cy="320040"/>
          </a:xfrm>
          <a:prstGeom prst="roundRect">
            <a:avLst>
              <a:gd name="adj" fmla="val 42857"/>
            </a:avLst>
          </a:prstGeom>
          <a:solidFill>
            <a:srgbClr val="F4F4E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38728" y="16276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38728" y="2011680"/>
            <a:ext cx="207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Corroboration Voting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38728" y="246888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commuters receive verification prompts. Reaching ≥ 3 community confirmations transitions status from PENDING to ACTIVE.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538728" y="3474720"/>
            <a:ext cx="2075688" cy="256032"/>
          </a:xfrm>
          <a:prstGeom prst="roundRect">
            <a:avLst>
              <a:gd name="adj" fmla="val 53571"/>
            </a:avLst>
          </a:prstGeom>
          <a:solidFill>
            <a:srgbClr val="F4F4E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38728" y="3511296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3-Vote Activation Threshold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071616" y="1417320"/>
            <a:ext cx="2441448" cy="246888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01600" dist="25400" dir="8100000">
              <a:srgbClr val="1B4332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54496" y="1600200"/>
            <a:ext cx="502920" cy="320040"/>
          </a:xfrm>
          <a:prstGeom prst="roundRect">
            <a:avLst>
              <a:gd name="adj" fmla="val 42857"/>
            </a:avLst>
          </a:prstGeom>
          <a:solidFill>
            <a:srgbClr val="F4F4E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496" y="16276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54496" y="2011680"/>
            <a:ext cx="207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Lifecycle Expiry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54496" y="246888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background job runs every 5 minutes, automatically expiring stale incidents based on severity (2h traffic to 72h construction).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54496" y="3474720"/>
            <a:ext cx="2075688" cy="256032"/>
          </a:xfrm>
          <a:prstGeom prst="roundRect">
            <a:avLst>
              <a:gd name="adj" fmla="val 53571"/>
            </a:avLst>
          </a:prstGeom>
          <a:solidFill>
            <a:srgbClr val="F4F4E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54496" y="3511296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Auto-Expiry Background Worker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40080" y="4069080"/>
            <a:ext cx="78638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01600" dist="25400" dir="8100000">
              <a:srgbClr val="1B4332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68680" y="4187952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LIFECYCLE STATES IN GUZOMATE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68680" y="440740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Status: PENDING (Amber) — </a:t>
            </a:r>
            <a:pPr indent="0" marL="0">
              <a:buNone/>
            </a:pPr>
            <a:r>
              <a:rPr lang="en-US" sz="90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reported; awaiting 3 community confirmations.
</a:t>
            </a:r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Status: ACTIVE (Emerald) — </a:t>
            </a:r>
            <a:pPr indent="0" marL="0">
              <a:buNone/>
            </a:pPr>
            <a:r>
              <a:rPr lang="en-US" sz="90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hazard; active in radar queries.   </a:t>
            </a:r>
            <a:pPr indent="0" marL="0">
              <a:buNone/>
            </a:pPr>
            <a:r>
              <a:rPr lang="en-US" sz="900" b="1" dirty="0">
                <a:solidFill>
                  <a:srgbClr val="717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Status: EXPIRED / RESOLVED — </a:t>
            </a:r>
            <a:pPr indent="0" marL="0">
              <a:buNone/>
            </a:pPr>
            <a:r>
              <a:rPr lang="en-US" sz="90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 by worker or moderator.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SERVICES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Arrival Advice &amp; Multi-Modal Routing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live microclimate conditions, transit schedules, and OSRM route guidance.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441448" cy="329184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01600" dist="25400" dir="8100000">
              <a:srgbClr val="1B4332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00200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&amp; MICROCLIMATE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847088"/>
            <a:ext cx="207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Atmospheric Forecasting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207568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WeatherAPI and Open-Meteo fallback cache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and daily precipitation mm, wind kph, and temperature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WMO weather code descriptions localized in EN, AM, OM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adjustments for highland microclimates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55848" y="1417320"/>
            <a:ext cx="2441448" cy="329184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01600" dist="25400" dir="8100000">
              <a:srgbClr val="1B4332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38728" y="1600200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ADVISORY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538728" y="1847088"/>
            <a:ext cx="207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Arrival Advice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38728" y="2286000"/>
            <a:ext cx="207568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destination weather matching arrival ETA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umbrella when precipitation probability ≥ 35%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warm layers when temperature ≤ 15°C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sun protection when temperature ≥ 23°C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71616" y="1417320"/>
            <a:ext cx="2441448" cy="329184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01600" dist="25400" dir="8100000">
              <a:srgbClr val="1B4332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54496" y="1600200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 ROUTING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54496" y="1847088"/>
            <a:ext cx="207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 &amp; OSRM Engine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54496" y="2286000"/>
            <a:ext cx="207568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GTFS transit synthesis: 199 bus routes and 1,355 bus stops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Addis Ababa Light Rail Transit (LRT) stop coordinates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 driving and walking routing with turn-by-turn maneuvers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route instructions in English, Amharic, and Afaan Oromo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 Technology Stack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verified open-source components and cloud services implemented in the codebase.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8288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01600" dist="25400" dir="8100000">
              <a:srgbClr val="1B4332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002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&amp; DATABASE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+ Supabase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2286000"/>
            <a:ext cx="1554480" cy="237744"/>
          </a:xfrm>
          <a:prstGeom prst="roundRect">
            <a:avLst>
              <a:gd name="adj" fmla="val 57692"/>
            </a:avLst>
          </a:prstGeom>
          <a:solidFill>
            <a:srgbClr val="F4F4E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3134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PostGIS + pgvector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77240" y="2651760"/>
            <a:ext cx="1554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hosting in eu-west-1 Ireland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 15 database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 3.3 for spatial geography queries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indexing 1,024-dim BGE-M3 vectors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6.19 for schema migrations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51760" y="1417320"/>
            <a:ext cx="18288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01600" dist="25400" dir="8100000">
              <a:srgbClr val="1B4332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88920" y="16002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788920" y="1828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v22 + Express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88920" y="2286000"/>
            <a:ext cx="1554480" cy="237744"/>
          </a:xfrm>
          <a:prstGeom prst="roundRect">
            <a:avLst>
              <a:gd name="adj" fmla="val 57692"/>
            </a:avLst>
          </a:prstGeom>
          <a:solidFill>
            <a:srgbClr val="F4F4E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23134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REST API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788920" y="2651760"/>
            <a:ext cx="1554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domain services architecture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Modules: Places, Assistant, Travel, Incidents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WeatherAPI &amp; Open-Meteo cache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GTFS transit adapter &amp; OSRM routing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Winston structured production logging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1417320"/>
            <a:ext cx="18288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01600" dist="25400" dir="8100000">
              <a:srgbClr val="1B4332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16002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MULTILINGUAL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00600" y="1828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BGE-M3 + Gemini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00600" y="2286000"/>
            <a:ext cx="1554480" cy="237744"/>
          </a:xfrm>
          <a:prstGeom prst="roundRect">
            <a:avLst>
              <a:gd name="adj" fmla="val 57692"/>
            </a:avLst>
          </a:prstGeom>
          <a:solidFill>
            <a:srgbClr val="F4F4E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3134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RAG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800600" y="2651760"/>
            <a:ext cx="1554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BAAI/bge-m3 dense 1,024-dim vector model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3.5 Flash Lite query planner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RAG context boundary assembler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Addis Voices 2 multilingual speech adapter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rule-based safety circuit breaker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675120" y="1417320"/>
            <a:ext cx="18288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01600" dist="25400" dir="8100000">
              <a:srgbClr val="1B4332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12280" y="16002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&amp; 3D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812280" y="1828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Three.js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812280" y="2286000"/>
            <a:ext cx="1554480" cy="237744"/>
          </a:xfrm>
          <a:prstGeom prst="roundRect">
            <a:avLst>
              <a:gd name="adj" fmla="val 57692"/>
            </a:avLst>
          </a:prstGeom>
          <a:solidFill>
            <a:srgbClr val="F4F4E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23134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Highland Modern UX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812280" y="2651760"/>
            <a:ext cx="1554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build tool with zero TypeScript errors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 custom Highland design tokens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3D wireframe terrain mesh canvas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interactive high-contrast map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 smooth micro-animations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IMPACT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Real Traveler Segments in East Africa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high-friction transit scenarios across urban centers and regional highway corridors.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794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01600" dist="25400" dir="8100000">
              <a:srgbClr val="1B4332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60020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COMMUTERS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City Transit Riders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16712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minibus routes, check destination weather arrival advice, and track verified road slowdowns during rush hours.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794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01600" dist="25400" dir="8100000">
              <a:srgbClr val="1B4332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60020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DRIVERS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Long-Haul Truckers &amp; Freight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16712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verified heavy-duty repair garages, fuel stations, and road obstruction alerts along intercity freight corridors.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3794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01600" dist="25400" dir="8100000">
              <a:srgbClr val="1B4332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38328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VISITORS &amp; TOURISTS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68680" y="36118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Tourists &amp; Eco-Adventurers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395020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Overcome language barriers instantly; explore vetted cultural coffee spots, hotels, viewpoints, and emergency clinics.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3200400"/>
            <a:ext cx="3794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01600" dist="25400" dir="8100000">
              <a:srgbClr val="1B4332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338328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TRAVELERS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937760" y="36118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Newcomers to the Capital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95020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queries hands-free by voice in native Amharic or Afaan Oromo; receive clear, grounded directions without digital literacy friction.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85800"/>
            <a:ext cx="3108960" cy="292608"/>
          </a:xfrm>
          <a:prstGeom prst="roundRect">
            <a:avLst>
              <a:gd name="adj" fmla="val 46875"/>
            </a:avLst>
          </a:prstGeom>
          <a:solidFill>
            <a:srgbClr val="FFFFFF"/>
          </a:solidFill>
          <a:ln w="9525">
            <a:solidFill>
              <a:srgbClr val="C1C8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040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GUZOMATE CLOSING SUMMARY  ✦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Every Journey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 and Easier.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14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intelligent, multilingual co-pilot bridging local geography, dense vector RAG, and community safety across Ethiopia and beyond.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24231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01600" dist="25400" dir="8100000">
              <a:srgbClr val="1B4332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312724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APPLICATION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" y="336499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Web Platform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373075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React 19 UI with 3D WebGL Highland terrain mesh, Leaflet spatial map, and voice assistant.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429768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 Live on AWS Cloud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55848" y="2971800"/>
            <a:ext cx="24231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01600" dist="25400" dir="8100000">
              <a:srgbClr val="1B4332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38728" y="312724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REPOSITORY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538728" y="336499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Monorepo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38728" y="373075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codebase: TypeScript backend, React frontend, PostGIS migrations, and BGE-M3 RAG pipeline.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38728" y="429768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 github.com/eyob/GuzoMate-aws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80176" y="2971800"/>
            <a:ext cx="24231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01600" dist="25400" dir="8100000">
              <a:srgbClr val="1B4332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63056" y="312724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INFRASTRUCTURE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63056" y="336499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18,833 Verified POIs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63056" y="373075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Supabase PostgreSQL database in AWS eu-west-1 with PostGIS 3.3 and pgvector 1,024-dim index.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63056" y="429768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 Supabase Cloud Database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GuzoMate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GuzoMate - Road AI Assistant Pitch Deck</dc:title>
  <dc:subject>PptxGenJS Presentation</dc:subject>
  <dc:creator>GuzoMate Team</dc:creator>
  <cp:lastModifiedBy>GuzoMate Team</cp:lastModifiedBy>
  <cp:revision>1</cp:revision>
  <dcterms:created xsi:type="dcterms:W3CDTF">2026-10-27T20:27:26Z</dcterms:created>
  <dcterms:modified xsi:type="dcterms:W3CDTF">2026-10-27T20:27:26Z</dcterms:modified>
</cp:coreProperties>
</file>